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80" r:id="rId6"/>
    <p:sldId id="268" r:id="rId7"/>
    <p:sldId id="281" r:id="rId8"/>
    <p:sldId id="282" r:id="rId9"/>
    <p:sldId id="283" r:id="rId10"/>
    <p:sldId id="284" r:id="rId11"/>
    <p:sldId id="285" r:id="rId12"/>
    <p:sldId id="287" r:id="rId13"/>
    <p:sldId id="261" r:id="rId14"/>
    <p:sldId id="288" r:id="rId15"/>
    <p:sldId id="263" r:id="rId16"/>
    <p:sldId id="264" r:id="rId17"/>
    <p:sldId id="265" r:id="rId18"/>
    <p:sldId id="274" r:id="rId19"/>
    <p:sldId id="275" r:id="rId20"/>
    <p:sldId id="276" r:id="rId21"/>
    <p:sldId id="277" r:id="rId22"/>
    <p:sldId id="278" r:id="rId23"/>
    <p:sldId id="279" r:id="rId24"/>
    <p:sldId id="267" r:id="rId25"/>
    <p:sldId id="260" r:id="rId26"/>
    <p:sldId id="269" r:id="rId27"/>
    <p:sldId id="270" r:id="rId28"/>
    <p:sldId id="272" r:id="rId29"/>
    <p:sldId id="271" r:id="rId30"/>
    <p:sldId id="273" r:id="rId31"/>
    <p:sldId id="28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483A-3B34-CFAF-C05A-418854BA5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F06A8-0EAF-A7E4-9197-A518A9702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9A3E6-1799-F940-09C5-635E1B38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16BAC-75AA-B1BB-EA40-29E3AE53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CFCE-C969-1806-AA29-A3190143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16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094D-0203-BB72-E382-93C94400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14E0-B5F0-FEEB-15F7-95E08403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32ED-5881-2EF6-1ABE-DF1228CD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02324-FA46-4F21-F70A-1F954ABA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5903-6703-D52A-FE49-3C04DE89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85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4BD5-E9E8-CE7C-D7C3-99BB39270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CF670-8D21-7D62-E19C-FA3F52ED2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A170-D8A6-29F8-9988-822D4DA8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B7BA-E512-F5F3-3D01-F16BD320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E5AFC-3701-A76C-1489-17566D5D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3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A392-48B5-9050-7491-47FE2B37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90B8-1AB1-4F64-2754-E07761C71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2DA91-57C0-25BE-F814-19441137C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66829-2BC0-5E60-4429-993DD63C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015F0-18EB-455A-3142-B48EBF1C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39D3-841F-1A9F-5643-1C96DB6A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1E89-6B5D-CE0C-EFA1-7FAF93AC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25B76-870A-C925-0834-D6E74E72B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7D1B9-B0AF-6156-C177-0C3DAD010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5B861-062E-5E68-CF59-D37F9C696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5C5F2-09F9-7513-6D8A-D1514AEC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595CB-3DE1-5B10-E8C0-D1DD2639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92D91-BD1C-09F1-D2F8-0504E432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3C3D1-9377-2A58-5296-3E1417D4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643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B7EF-015B-8249-2574-320956A6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5E40A-C7F2-38DB-BC87-9AFB05BA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D1502-C177-B488-0FEA-77DD995D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AF34A-5BDC-4E07-5B06-AE0A6538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94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B5188-8B98-D457-DF22-BA769A65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DF8CA-B9CF-35EB-B487-B260AA17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C7A07-FF3E-8A88-AD9E-B2F25744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95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BD8C-B87A-D61C-667A-AD8BCC9A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97AD-CFFF-C10A-4B64-017F157B7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5B15-6915-CB38-125D-8BCA576E2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17AFE-0C80-067D-2909-A1E79466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98C6A-1B55-9178-FCBC-95A62BA2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D71DF-0ACA-7A32-6855-FC3036A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68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46C4-ECEA-DFF0-4B85-43730034F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8D398-6E33-E75E-70A8-E2B7E2985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8CEA1-069F-CB5F-6F5C-C40B3F51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7B8F4-4A8A-D009-03AC-3B7F30A0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B4E00-77E1-DBD9-5BC1-0B872C1B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59308-A337-C428-5456-89D3767A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07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45D2-B0BC-AA38-CEF1-03A456D9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CAEDB-758A-11CA-8FFD-286DC3FB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3D3CE-97DF-E7E0-6087-755E606D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7CDD2-DC62-B65A-0914-3F9BE567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81842-3354-5EBF-0801-47C631F3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87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C2318-8649-F0CC-9B32-118A91246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A9643-0061-CBFA-717C-1BCE3FA93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AA1F2-EE8A-1425-CCED-B798B6B5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F347B-D80D-2F7F-2AEA-FAB4C76D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7451-05DA-5FC9-3E98-35A5D385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74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22D46-24FD-0EE0-C6CB-C3A2C10A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66D7-2AA2-A6EA-E0CC-B2FA7D17E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AA0C9-3785-CD15-42A2-F6437EBD6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28D37-4DE5-4E90-80CD-43A437A37418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38D8-6E36-1295-657C-DE30830D5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51F7-7143-9FDB-C6E8-1870C8927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0781-661D-461A-93F1-844D89D64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0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5346BD3-0956-3345-8767-059F655FBE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317127" y="984647"/>
            <a:ext cx="955774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IT4020 - Modern Topics in IT Assignment 2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Architecture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B779C0-C909-80F2-2379-006EED52C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56857" y="2702480"/>
            <a:ext cx="5878284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E-Learning Platform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	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altLang="en-US" sz="20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Neethila</a:t>
            </a:r>
            <a:r>
              <a:rPr lang="en-US" alt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A.L.N.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Student Service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Warunika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 S </a:t>
            </a:r>
            <a:r>
              <a:rPr lang="en-US" alt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Course Service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alt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Karunarathne D T S -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Enrollment Service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alt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Chathuranga D S 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Grade Service</a:t>
            </a:r>
          </a:p>
        </p:txBody>
      </p:sp>
    </p:spTree>
    <p:extLst>
      <p:ext uri="{BB962C8B-B14F-4D97-AF65-F5344CB8AC3E}">
        <p14:creationId xmlns:p14="http://schemas.microsoft.com/office/powerpoint/2010/main" val="269204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0E1A-2369-3652-67C6-8C5E2357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Slide 2: Individual Contributions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CCE9D7-ECE3-CDB7-932D-806C39DFF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403797"/>
              </p:ext>
            </p:extLst>
          </p:nvPr>
        </p:nvGraphicFramePr>
        <p:xfrm>
          <a:off x="838200" y="1813560"/>
          <a:ext cx="10845799" cy="24079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55240">
                  <a:extLst>
                    <a:ext uri="{9D8B030D-6E8A-4147-A177-3AD203B41FA5}">
                      <a16:colId xmlns:a16="http://schemas.microsoft.com/office/drawing/2014/main" val="413941605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60592512"/>
                    </a:ext>
                  </a:extLst>
                </a:gridCol>
                <a:gridCol w="2643893">
                  <a:extLst>
                    <a:ext uri="{9D8B030D-6E8A-4147-A177-3AD203B41FA5}">
                      <a16:colId xmlns:a16="http://schemas.microsoft.com/office/drawing/2014/main" val="3039522988"/>
                    </a:ext>
                  </a:extLst>
                </a:gridCol>
                <a:gridCol w="3055866">
                  <a:extLst>
                    <a:ext uri="{9D8B030D-6E8A-4147-A177-3AD203B41FA5}">
                      <a16:colId xmlns:a16="http://schemas.microsoft.com/office/drawing/2014/main" val="3530375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Member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Role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Services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Contributions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07789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 err="1">
                          <a:effectLst/>
                          <a:latin typeface="quote-cjk-patch"/>
                        </a:rPr>
                        <a:t>Neethila</a:t>
                      </a:r>
                      <a:r>
                        <a:rPr lang="en-GB" b="0" dirty="0">
                          <a:effectLst/>
                          <a:latin typeface="quote-cjk-patch"/>
                        </a:rPr>
                        <a:t> A L 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Student Service Lead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Student Microservice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CRUD operations, Swagger docs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49085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 err="1">
                          <a:effectLst/>
                        </a:rPr>
                        <a:t>Warunika</a:t>
                      </a:r>
                      <a:r>
                        <a:rPr lang="en-GB" b="0" dirty="0">
                          <a:effectLst/>
                        </a:rPr>
                        <a:t> R 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Course Service Lead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Course Microservice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9 endpoints, Swagger, testing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52787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Karunarathne D T 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Enrollment Service Lead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Enrollment Microservice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Enrollment logic, relationships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14293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Chathuranga D S I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Grade Service Lead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Grade Microservice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Grading system, calculations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6830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66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3A68-EE27-0B6F-5BAF-F902933F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Architecture Overview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D3B6B-4B17-CAA0-1616-421C818BB8F9}"/>
              </a:ext>
            </a:extLst>
          </p:cNvPr>
          <p:cNvSpPr txBox="1"/>
          <p:nvPr/>
        </p:nvSpPr>
        <p:spPr>
          <a:xfrm>
            <a:off x="3596640" y="4841568"/>
            <a:ext cx="777240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05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FD80C0C-4733-E043-2EE1-5293D293C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5806" y="1543685"/>
            <a:ext cx="65985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48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7D1B-2923-6D5F-C2E6-85952FC3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Version Control &amp; Collaboration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5EF17-86EE-E77E-5E23-D66E36D62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35" y="1422247"/>
            <a:ext cx="5225427" cy="5142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B4491-74A1-BEC4-8F6F-14566E288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539"/>
          <a:stretch>
            <a:fillRect/>
          </a:stretch>
        </p:blipFill>
        <p:spPr>
          <a:xfrm>
            <a:off x="6033247" y="1350530"/>
            <a:ext cx="4898025" cy="2325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DC5027-8F07-563E-51C2-BC0F50194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38613"/>
            <a:ext cx="4988932" cy="275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0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2509-356E-C55F-5192-CA8E3A98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72EFA-C8C4-F73A-6C10-6BA12079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Student Microservice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Port: 8000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Technology: Python + Flask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Purpose: Overall Students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Key Features:</a:t>
            </a:r>
          </a:p>
          <a:p>
            <a:pPr marL="0" indent="0">
              <a:buNone/>
            </a:pPr>
            <a:r>
              <a:rPr lang="en-GB" dirty="0"/>
              <a:t>  	• Create, Read, Update, Delete courses</a:t>
            </a:r>
          </a:p>
          <a:p>
            <a:pPr marL="0" indent="0">
              <a:buNone/>
            </a:pPr>
            <a:r>
              <a:rPr lang="en-GB" dirty="0"/>
              <a:t>  	• Search by instructor</a:t>
            </a:r>
          </a:p>
          <a:p>
            <a:pPr marL="0" indent="0">
              <a:buNone/>
            </a:pPr>
            <a:r>
              <a:rPr lang="en-GB" dirty="0"/>
              <a:t>  	• Check availability</a:t>
            </a:r>
          </a:p>
          <a:p>
            <a:pPr marL="0" indent="0">
              <a:buNone/>
            </a:pPr>
            <a:r>
              <a:rPr lang="en-GB" dirty="0"/>
              <a:t>  	• Generate statistics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19124-B1C1-E4C0-1E9B-78988897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504" y="365125"/>
            <a:ext cx="5620970" cy="26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6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31E5-D295-D56F-2B0F-3EB96981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BA0B-878D-C5AF-3D32-526D7003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6324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API Endpoints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80D444-5EA0-2437-0FF3-C6C3AB1EF9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63039"/>
              </p:ext>
            </p:extLst>
          </p:nvPr>
        </p:nvGraphicFramePr>
        <p:xfrm>
          <a:off x="838200" y="1097280"/>
          <a:ext cx="10515597" cy="5090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337583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691057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78144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Method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Endpoint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Description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3867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Retrieve all students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454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/student/search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Search student by student name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5532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POST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Create a new student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708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GET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/students/by-course/{course}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Retrieve students according to the course name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117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GET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/students/courses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Get the list of unique courses.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7752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/students/course/{course}/count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count of students in a specific course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6143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/students/{</a:t>
                      </a:r>
                      <a:r>
                        <a:rPr lang="en-GB" b="0" dirty="0" err="1">
                          <a:effectLst/>
                        </a:rPr>
                        <a:t>student_id</a:t>
                      </a:r>
                      <a:r>
                        <a:rPr lang="en-GB" b="0" dirty="0">
                          <a:effectLst/>
                        </a:rPr>
                        <a:t>}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Get students according to their ID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52903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PUT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/students/{</a:t>
                      </a:r>
                      <a:r>
                        <a:rPr lang="en-GB" b="0" dirty="0" err="1">
                          <a:effectLst/>
                        </a:rPr>
                        <a:t>student_id</a:t>
                      </a:r>
                      <a:r>
                        <a:rPr lang="en-GB" b="0" dirty="0">
                          <a:effectLst/>
                        </a:rPr>
                        <a:t>}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Update Students according to the student ID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241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  <a:latin typeface="quote-cjk-patch"/>
                        </a:rPr>
                        <a:t>DELETE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/students/{</a:t>
                      </a:r>
                      <a:r>
                        <a:rPr lang="en-GB" b="0" dirty="0" err="1">
                          <a:effectLst/>
                        </a:rPr>
                        <a:t>student_id</a:t>
                      </a:r>
                      <a:r>
                        <a:rPr lang="en-GB" b="0" dirty="0">
                          <a:effectLst/>
                        </a:rPr>
                        <a:t>}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Delete a student.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8122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7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ED9CA-A9AC-4E89-96F2-5DF8B50FB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79" y="1734406"/>
            <a:ext cx="7901997" cy="43342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BA559E-ABE6-9369-1A6C-CFB91B717D79}"/>
              </a:ext>
            </a:extLst>
          </p:cNvPr>
          <p:cNvSpPr txBox="1"/>
          <p:nvPr/>
        </p:nvSpPr>
        <p:spPr>
          <a:xfrm>
            <a:off x="4438650" y="365604"/>
            <a:ext cx="3314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Direct Access Testing</a:t>
            </a:r>
            <a:br>
              <a:rPr lang="en-US" sz="2400" b="1" u="sng" dirty="0"/>
            </a:b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Swagger UI Direct Access</a:t>
            </a:r>
            <a:endParaRPr lang="en-GB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4502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DD1FB0-6428-BC15-28F1-620F1ED9B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17" y="1173481"/>
            <a:ext cx="4897966" cy="53263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958355-55D3-D457-6927-AD03977BC469}"/>
              </a:ext>
            </a:extLst>
          </p:cNvPr>
          <p:cNvSpPr txBox="1"/>
          <p:nvPr/>
        </p:nvSpPr>
        <p:spPr>
          <a:xfrm>
            <a:off x="1523269" y="672164"/>
            <a:ext cx="2691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Get All Students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F1602-A2A8-7C15-C1DE-1AD6317BF134}"/>
              </a:ext>
            </a:extLst>
          </p:cNvPr>
          <p:cNvSpPr txBox="1"/>
          <p:nvPr/>
        </p:nvSpPr>
        <p:spPr>
          <a:xfrm>
            <a:off x="7056833" y="632958"/>
            <a:ext cx="3100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Get Statistics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F14C2D-17EB-87D1-E9FB-07AA018E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3939870"/>
            <a:ext cx="4239096" cy="29484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F5B718-0B9C-516D-FEB2-615B921C2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721" y="1173481"/>
            <a:ext cx="5353797" cy="22005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CD5457-B0A9-BB1E-A56C-7216ABCD765B}"/>
              </a:ext>
            </a:extLst>
          </p:cNvPr>
          <p:cNvSpPr txBox="1"/>
          <p:nvPr/>
        </p:nvSpPr>
        <p:spPr>
          <a:xfrm>
            <a:off x="7181306" y="3374063"/>
            <a:ext cx="2552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Get Students by Email</a:t>
            </a:r>
          </a:p>
        </p:txBody>
      </p:sp>
    </p:spTree>
    <p:extLst>
      <p:ext uri="{BB962C8B-B14F-4D97-AF65-F5344CB8AC3E}">
        <p14:creationId xmlns:p14="http://schemas.microsoft.com/office/powerpoint/2010/main" val="3520875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D73784-A06C-FF87-6B32-2905DA48EC3F}"/>
              </a:ext>
            </a:extLst>
          </p:cNvPr>
          <p:cNvSpPr txBox="1"/>
          <p:nvPr/>
        </p:nvSpPr>
        <p:spPr>
          <a:xfrm>
            <a:off x="525780" y="632460"/>
            <a:ext cx="2341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Error Handling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8C7EEC-328B-51D0-2237-A8A51F27B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7" y="2259505"/>
            <a:ext cx="5652959" cy="3528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AE5EEE-F168-DA63-C8FC-5E9C04755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59505"/>
            <a:ext cx="5766870" cy="35288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76EA7A-813A-C03C-C29E-31CEA24D4D0D}"/>
              </a:ext>
            </a:extLst>
          </p:cNvPr>
          <p:cNvSpPr txBox="1"/>
          <p:nvPr/>
        </p:nvSpPr>
        <p:spPr>
          <a:xfrm>
            <a:off x="1147336" y="1563267"/>
            <a:ext cx="199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Student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Not Found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0167F-8483-296E-45E6-EFCC1B80E4C7}"/>
              </a:ext>
            </a:extLst>
          </p:cNvPr>
          <p:cNvSpPr txBox="1"/>
          <p:nvPr/>
        </p:nvSpPr>
        <p:spPr>
          <a:xfrm>
            <a:off x="7503312" y="1563267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Required Field Validation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1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345C0A-A8CA-63E2-8ECB-50A0FA821EEE}"/>
              </a:ext>
            </a:extLst>
          </p:cNvPr>
          <p:cNvSpPr txBox="1"/>
          <p:nvPr/>
        </p:nvSpPr>
        <p:spPr>
          <a:xfrm>
            <a:off x="356357" y="345170"/>
            <a:ext cx="1752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Crud Operations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D712A-834C-B286-5660-3A04D0A3D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629" y="3611513"/>
            <a:ext cx="3490741" cy="3007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E788B-481E-AF01-0B8E-5F87F406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597" y="3599233"/>
            <a:ext cx="3644873" cy="3016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FDA886-A59B-550C-6C88-ADE04D769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598" y="710930"/>
            <a:ext cx="3563770" cy="2846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1DDAE5-4647-4BFD-81AA-0D9868672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630" y="831998"/>
            <a:ext cx="3563770" cy="276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5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19BBF8-4643-5176-927A-F45A7BB28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852790"/>
              </p:ext>
            </p:extLst>
          </p:nvPr>
        </p:nvGraphicFramePr>
        <p:xfrm>
          <a:off x="2669540" y="1130300"/>
          <a:ext cx="6852920" cy="459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>
                  <a:extLst>
                    <a:ext uri="{9D8B030D-6E8A-4147-A177-3AD203B41FA5}">
                      <a16:colId xmlns:a16="http://schemas.microsoft.com/office/drawing/2014/main" val="2950780673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1649268507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459570440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237837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>
                          <a:effectLst/>
                          <a:latin typeface="quote-cjk-patch"/>
                        </a:rPr>
                        <a:t>Test Case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Expected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Actual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5249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all students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students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7072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student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9993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by invalid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404 Not Found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652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POST new student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201 Created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36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all courses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course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211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PUT update student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8676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Search by student name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8365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DELETE student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deleted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4700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email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4696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course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4401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students count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stats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277440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F70E633-C69D-B396-0C30-19A27956DB27}"/>
              </a:ext>
            </a:extLst>
          </p:cNvPr>
          <p:cNvSpPr txBox="1"/>
          <p:nvPr/>
        </p:nvSpPr>
        <p:spPr>
          <a:xfrm>
            <a:off x="942392" y="382555"/>
            <a:ext cx="3092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Testing Summary</a:t>
            </a:r>
          </a:p>
        </p:txBody>
      </p:sp>
    </p:spTree>
    <p:extLst>
      <p:ext uri="{BB962C8B-B14F-4D97-AF65-F5344CB8AC3E}">
        <p14:creationId xmlns:p14="http://schemas.microsoft.com/office/powerpoint/2010/main" val="2834869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5272-48D7-BE9E-14CA-FD18FC26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Course Service Slides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9A784-AD5D-765E-952A-757A1F5C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971522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Course Microservice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Port: 5002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Technology: Node.js + Express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Purpose: Course </a:t>
            </a:r>
            <a:r>
              <a:rPr lang="en-GB" dirty="0" err="1"/>
              <a:t>catalog</a:t>
            </a:r>
            <a:r>
              <a:rPr lang="en-GB" dirty="0"/>
              <a:t>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Key Features:</a:t>
            </a:r>
          </a:p>
          <a:p>
            <a:pPr marL="0" indent="0">
              <a:buNone/>
            </a:pPr>
            <a:r>
              <a:rPr lang="en-GB" dirty="0"/>
              <a:t>  	• Create, Read, Update, Delete courses</a:t>
            </a:r>
          </a:p>
          <a:p>
            <a:pPr marL="0" indent="0">
              <a:buNone/>
            </a:pPr>
            <a:r>
              <a:rPr lang="en-GB" dirty="0"/>
              <a:t>  	• Search by instructor</a:t>
            </a:r>
          </a:p>
          <a:p>
            <a:pPr marL="0" indent="0">
              <a:buNone/>
            </a:pPr>
            <a:r>
              <a:rPr lang="en-GB" dirty="0"/>
              <a:t>  	• Check availability</a:t>
            </a:r>
          </a:p>
          <a:p>
            <a:pPr marL="0" indent="0">
              <a:buNone/>
            </a:pPr>
            <a:r>
              <a:rPr lang="en-GB" dirty="0"/>
              <a:t>  	• Generate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F0B4A-D95A-B5B6-CF87-AD0A4AC5F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670" y="609118"/>
            <a:ext cx="5086149" cy="23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87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E032-2ABE-74DF-7D32-7CC686F6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Direct Access Testing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966CBD-A8AF-D194-82FF-4FE13A86B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32" y="1512385"/>
            <a:ext cx="5379340" cy="366539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B31E0-8FB8-4C06-0E1F-FAAC475CD176}"/>
              </a:ext>
            </a:extLst>
          </p:cNvPr>
          <p:cNvSpPr txBox="1"/>
          <p:nvPr/>
        </p:nvSpPr>
        <p:spPr>
          <a:xfrm>
            <a:off x="1792241" y="990346"/>
            <a:ext cx="308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Swagger UI Direct Access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9693F-2B1B-C65A-77C7-1EBB8D98824D}"/>
              </a:ext>
            </a:extLst>
          </p:cNvPr>
          <p:cNvSpPr txBox="1"/>
          <p:nvPr/>
        </p:nvSpPr>
        <p:spPr>
          <a:xfrm>
            <a:off x="7775130" y="990346"/>
            <a:ext cx="262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All Courses Response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00E3A-30A9-BC9F-1C04-12277E35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232" y="1408101"/>
            <a:ext cx="4163568" cy="45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17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97AF4EAD-A0CA-8F40-C092-C866913B0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295400"/>
            <a:ext cx="10515597" cy="426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D03E54-3D82-7827-D1BF-DDE5959059F4}"/>
              </a:ext>
            </a:extLst>
          </p:cNvPr>
          <p:cNvSpPr txBox="1"/>
          <p:nvPr/>
        </p:nvSpPr>
        <p:spPr>
          <a:xfrm>
            <a:off x="838201" y="649069"/>
            <a:ext cx="6094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API Endpoints</a:t>
            </a:r>
            <a:br>
              <a:rPr lang="en-GB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3721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FBC8A6-4CC4-D606-2941-DF93BB2385AC}"/>
              </a:ext>
            </a:extLst>
          </p:cNvPr>
          <p:cNvSpPr txBox="1"/>
          <p:nvPr/>
        </p:nvSpPr>
        <p:spPr>
          <a:xfrm>
            <a:off x="1269704" y="239891"/>
            <a:ext cx="228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Available Courses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7DB09E-8651-B46B-E5E6-57600EB29799}"/>
              </a:ext>
            </a:extLst>
          </p:cNvPr>
          <p:cNvSpPr txBox="1"/>
          <p:nvPr/>
        </p:nvSpPr>
        <p:spPr>
          <a:xfrm>
            <a:off x="6009265" y="205942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Statistics</a:t>
            </a:r>
            <a:endParaRPr lang="en-GB" b="1" dirty="0">
              <a:solidFill>
                <a:srgbClr val="0F1115"/>
              </a:solidFill>
              <a:effectLst/>
              <a:highlight>
                <a:srgbClr val="FFFFFF"/>
              </a:highlight>
              <a:latin typeface="quote-cjk-patch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99883F9-05C2-E5CC-A540-4B6662E85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64" y="721334"/>
            <a:ext cx="4173308" cy="15513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798AE3-D87F-EFDA-234A-3E6E24B4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421" y="609223"/>
            <a:ext cx="2781300" cy="20355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742C321-AB14-8A97-6048-3F374D4DAA49}"/>
              </a:ext>
            </a:extLst>
          </p:cNvPr>
          <p:cNvSpPr txBox="1"/>
          <p:nvPr/>
        </p:nvSpPr>
        <p:spPr>
          <a:xfrm>
            <a:off x="743924" y="3098993"/>
            <a:ext cx="2445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Course Not Found (404)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BA2001-E731-A917-19EF-2C4E9DCAD6E3}"/>
              </a:ext>
            </a:extLst>
          </p:cNvPr>
          <p:cNvSpPr txBox="1"/>
          <p:nvPr/>
        </p:nvSpPr>
        <p:spPr>
          <a:xfrm>
            <a:off x="5289892" y="3059668"/>
            <a:ext cx="238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Duplicate Course Code </a:t>
            </a:r>
            <a:endParaRPr lang="en-GB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0625C34-6686-47E6-28CB-E677995B6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656" y="3647615"/>
            <a:ext cx="3456199" cy="153867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AE613BF-8BEF-3564-2B85-B435DB4C8554}"/>
              </a:ext>
            </a:extLst>
          </p:cNvPr>
          <p:cNvSpPr txBox="1"/>
          <p:nvPr/>
        </p:nvSpPr>
        <p:spPr>
          <a:xfrm>
            <a:off x="9210543" y="3059668"/>
            <a:ext cx="248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Missing Required Fields </a:t>
            </a:r>
            <a:endParaRPr lang="en-GB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5D0BA9-571C-4A2F-D2D4-0E923D759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17" y="3647615"/>
            <a:ext cx="3456199" cy="238642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D844CD8-8757-071D-7926-9E3DFD281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2051" y="3647615"/>
            <a:ext cx="4044670" cy="23934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B90E7B2-EDE7-F9F9-21AA-5010D6B0CD77}"/>
              </a:ext>
            </a:extLst>
          </p:cNvPr>
          <p:cNvSpPr txBox="1"/>
          <p:nvPr/>
        </p:nvSpPr>
        <p:spPr>
          <a:xfrm>
            <a:off x="844164" y="2351550"/>
            <a:ext cx="2569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993328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90AE-A91E-882B-D409-93107BA3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17" y="0"/>
            <a:ext cx="10515600" cy="1311275"/>
          </a:xfrm>
        </p:spPr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CRUD Operations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93743-8C31-2F5C-9F74-F9C423D89BEB}"/>
              </a:ext>
            </a:extLst>
          </p:cNvPr>
          <p:cNvSpPr txBox="1"/>
          <p:nvPr/>
        </p:nvSpPr>
        <p:spPr>
          <a:xfrm>
            <a:off x="502920" y="1025128"/>
            <a:ext cx="2209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Create Course (POST)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85D5B-710C-7A03-AE85-BE5A7BD8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852"/>
            <a:ext cx="2110103" cy="3127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5A293A-07CB-AD39-4689-0CA721AE8D17}"/>
              </a:ext>
            </a:extLst>
          </p:cNvPr>
          <p:cNvSpPr txBox="1"/>
          <p:nvPr/>
        </p:nvSpPr>
        <p:spPr>
          <a:xfrm>
            <a:off x="3134767" y="1018143"/>
            <a:ext cx="296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Single Course (GET by ID)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CBBF6E-8FC7-95B9-4194-6288918BD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436" y="1394460"/>
            <a:ext cx="3814515" cy="2397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11244F-20C8-D4EA-8BA0-242979CFB63F}"/>
              </a:ext>
            </a:extLst>
          </p:cNvPr>
          <p:cNvSpPr txBox="1"/>
          <p:nvPr/>
        </p:nvSpPr>
        <p:spPr>
          <a:xfrm>
            <a:off x="6949282" y="1025128"/>
            <a:ext cx="217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Update Course (PUT)</a:t>
            </a: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A0A341-9C4E-24D3-D444-FD8E2D808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347" y="1394460"/>
            <a:ext cx="5226549" cy="22783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D8AC4F-5F1A-39BA-44A3-CA00E1179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4296267"/>
            <a:ext cx="1997077" cy="23345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C89D81-F144-0A15-9758-CD71E30DB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5559" y="4521543"/>
            <a:ext cx="2904511" cy="20485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886204A-EE5F-5F4D-D97D-B31C98E3E2D3}"/>
              </a:ext>
            </a:extLst>
          </p:cNvPr>
          <p:cNvSpPr txBox="1"/>
          <p:nvPr/>
        </p:nvSpPr>
        <p:spPr>
          <a:xfrm>
            <a:off x="5323628" y="3971885"/>
            <a:ext cx="240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Delete Course (DELETE)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3865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92D7B4-A1C1-728B-8922-C80E0B271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79472"/>
              </p:ext>
            </p:extLst>
          </p:nvPr>
        </p:nvGraphicFramePr>
        <p:xfrm>
          <a:off x="2669540" y="917786"/>
          <a:ext cx="685292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>
                  <a:extLst>
                    <a:ext uri="{9D8B030D-6E8A-4147-A177-3AD203B41FA5}">
                      <a16:colId xmlns:a16="http://schemas.microsoft.com/office/drawing/2014/main" val="2950780673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1649268507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459570440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237837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>
                          <a:effectLst/>
                          <a:latin typeface="quote-cjk-patch"/>
                        </a:rPr>
                        <a:t>Test Case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Expected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Actual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5249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all courses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with course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7072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course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9993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by invalid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404 Not Found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652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POST new course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201 Created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36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POST duplicate code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400 Bad Request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211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PUT update course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8676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PATCH partial update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8365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DELETE course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deleted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4700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available courses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4696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by instructor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4401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statistics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stats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277440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36E05E-2342-776D-A97D-503D312CF087}"/>
              </a:ext>
            </a:extLst>
          </p:cNvPr>
          <p:cNvSpPr txBox="1"/>
          <p:nvPr/>
        </p:nvSpPr>
        <p:spPr>
          <a:xfrm>
            <a:off x="754380" y="259080"/>
            <a:ext cx="3092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Testing Summary</a:t>
            </a:r>
          </a:p>
        </p:txBody>
      </p:sp>
    </p:spTree>
    <p:extLst>
      <p:ext uri="{BB962C8B-B14F-4D97-AF65-F5344CB8AC3E}">
        <p14:creationId xmlns:p14="http://schemas.microsoft.com/office/powerpoint/2010/main" val="3786419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5272-48D7-BE9E-14CA-FD18FC26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Enrollment Service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9A784-AD5D-765E-952A-757A1F5C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971522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Enrollment Microservice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Port: 5003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Technology: Python + Flask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Purpose: Student-course</a:t>
            </a:r>
            <a:r>
              <a:rPr lang="en-GB" dirty="0" err="1"/>
              <a:t>enrollment</a:t>
            </a:r>
            <a:r>
              <a:rPr lang="en-GB" dirty="0"/>
              <a:t>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Key Features:</a:t>
            </a:r>
          </a:p>
          <a:p>
            <a:pPr marL="0" indent="0">
              <a:buNone/>
            </a:pPr>
            <a:r>
              <a:rPr lang="en-GB" dirty="0"/>
              <a:t>  	• Create, read, and reactivate enrollments</a:t>
            </a:r>
          </a:p>
          <a:p>
            <a:pPr marL="0" indent="0">
              <a:buNone/>
            </a:pPr>
            <a:r>
              <a:rPr lang="en-GB" dirty="0"/>
              <a:t>  	• View enrollments by student</a:t>
            </a:r>
          </a:p>
          <a:p>
            <a:pPr marL="0" indent="0">
              <a:buNone/>
            </a:pPr>
            <a:r>
              <a:rPr lang="en-GB" dirty="0"/>
              <a:t>  	• View students by course</a:t>
            </a:r>
          </a:p>
          <a:p>
            <a:pPr marL="0" indent="0">
              <a:buNone/>
            </a:pPr>
            <a:r>
              <a:rPr lang="en-GB" dirty="0"/>
              <a:t>  	• Soft drop and status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F0B4A-D95A-B5B6-CF87-AD0A4AC5F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670" y="609118"/>
            <a:ext cx="5086149" cy="23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29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31E5-D295-D56F-2B0F-3EB96981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BA0B-878D-C5AF-3D32-526D7003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6324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API Endpoints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80D444-5EA0-2437-0FF3-C6C3AB1EF9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97280"/>
          <a:ext cx="10515597" cy="426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337583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691057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78144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Method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Endpoint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Description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3867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/health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Health check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454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/enrollments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Retrieve all enrollments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5532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/enrollments/{id}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 enrollment by ID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708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POST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/enrollments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Create or reactivate enrollment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1179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PUT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/enrollments/{id}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Update status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7752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DELETE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/enrollments/{id}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Soft drop enrollment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6143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/students/{studentId}/courses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List records by student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52903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/courses/{courseId}/students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List records by course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241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/api-docs/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Swagger UI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8122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7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E032-2ABE-74DF-7D32-7CC686F6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Direct Access Testing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966CBD-A8AF-D194-82FF-4FE13A86B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7" r="26991"/>
          <a:stretch>
            <a:fillRect/>
          </a:stretch>
        </p:blipFill>
        <p:spPr>
          <a:xfrm>
            <a:off x="1792241" y="1408101"/>
            <a:ext cx="3397624" cy="506123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B31E0-8FB8-4C06-0E1F-FAAC475CD176}"/>
              </a:ext>
            </a:extLst>
          </p:cNvPr>
          <p:cNvSpPr txBox="1"/>
          <p:nvPr/>
        </p:nvSpPr>
        <p:spPr>
          <a:xfrm>
            <a:off x="1792241" y="990346"/>
            <a:ext cx="308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Swagger UI Direct Access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9693F-2B1B-C65A-77C7-1EBB8D98824D}"/>
              </a:ext>
            </a:extLst>
          </p:cNvPr>
          <p:cNvSpPr txBox="1"/>
          <p:nvPr/>
        </p:nvSpPr>
        <p:spPr>
          <a:xfrm>
            <a:off x="7775130" y="990346"/>
            <a:ext cx="262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Enrollments Response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00E3A-30A9-BC9F-1C04-12277E35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384" y="1359678"/>
            <a:ext cx="4616122" cy="506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17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E032-2ABE-74DF-7D32-7CC686F6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Gateway Access Testing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966CBD-A8AF-D194-82FF-4FE13A86B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1" r="25824"/>
          <a:stretch>
            <a:fillRect/>
          </a:stretch>
        </p:blipFill>
        <p:spPr>
          <a:xfrm>
            <a:off x="1505534" y="1359678"/>
            <a:ext cx="3496235" cy="496355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1B31E0-8FB8-4C06-0E1F-FAAC475CD176}"/>
              </a:ext>
            </a:extLst>
          </p:cNvPr>
          <p:cNvSpPr txBox="1"/>
          <p:nvPr/>
        </p:nvSpPr>
        <p:spPr>
          <a:xfrm>
            <a:off x="1792241" y="990346"/>
            <a:ext cx="308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Swagger UI via Gateway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9693F-2B1B-C65A-77C7-1EBB8D98824D}"/>
              </a:ext>
            </a:extLst>
          </p:cNvPr>
          <p:cNvSpPr txBox="1"/>
          <p:nvPr/>
        </p:nvSpPr>
        <p:spPr>
          <a:xfrm>
            <a:off x="7775130" y="990346"/>
            <a:ext cx="262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Enrollments via Gateway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400E3A-30A9-BC9F-1C04-12277E35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20" y="1359678"/>
            <a:ext cx="4526760" cy="49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17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FBC8A6-4CC4-D606-2941-DF93BB2385AC}"/>
              </a:ext>
            </a:extLst>
          </p:cNvPr>
          <p:cNvSpPr txBox="1"/>
          <p:nvPr/>
        </p:nvSpPr>
        <p:spPr>
          <a:xfrm>
            <a:off x="1269704" y="239891"/>
            <a:ext cx="228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Duplicate Enrollment (409)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7DB09E-8651-B46B-E5E6-57600EB29799}"/>
              </a:ext>
            </a:extLst>
          </p:cNvPr>
          <p:cNvSpPr txBox="1"/>
          <p:nvPr/>
        </p:nvSpPr>
        <p:spPr>
          <a:xfrm>
            <a:off x="6009265" y="205942"/>
            <a:ext cx="14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Missing Required Fields (400)</a:t>
            </a:r>
            <a:endParaRPr lang="en-GB" b="1" dirty="0">
              <a:solidFill>
                <a:srgbClr val="0F1115"/>
              </a:solidFill>
              <a:effectLst/>
              <a:highlight>
                <a:srgbClr val="FFFFFF"/>
              </a:highlight>
              <a:latin typeface="quote-cjk-patch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99883F9-05C2-E5CC-A540-4B6662E85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64" y="721334"/>
            <a:ext cx="4173308" cy="15513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798AE3-D87F-EFDA-234A-3E6E24B4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421" y="609223"/>
            <a:ext cx="2781300" cy="20355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742C321-AB14-8A97-6048-3F374D4DAA49}"/>
              </a:ext>
            </a:extLst>
          </p:cNvPr>
          <p:cNvSpPr txBox="1"/>
          <p:nvPr/>
        </p:nvSpPr>
        <p:spPr>
          <a:xfrm>
            <a:off x="743924" y="3098993"/>
            <a:ext cx="2445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Enrollment Not Found (404)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BA2001-E731-A917-19EF-2C4E9DCAD6E3}"/>
              </a:ext>
            </a:extLst>
          </p:cNvPr>
          <p:cNvSpPr txBox="1"/>
          <p:nvPr/>
        </p:nvSpPr>
        <p:spPr>
          <a:xfrm>
            <a:off x="5289892" y="3059668"/>
            <a:ext cx="238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Soft Drop via DELETE</a:t>
            </a:r>
            <a:endParaRPr lang="en-GB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0625C34-6686-47E6-28CB-E677995B6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656" y="3647615"/>
            <a:ext cx="3456199" cy="153867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AE613BF-8BEF-3564-2B85-B435DB4C8554}"/>
              </a:ext>
            </a:extLst>
          </p:cNvPr>
          <p:cNvSpPr txBox="1"/>
          <p:nvPr/>
        </p:nvSpPr>
        <p:spPr>
          <a:xfrm>
            <a:off x="9210543" y="3059668"/>
            <a:ext cx="248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Re-enroll Dropped Record</a:t>
            </a:r>
            <a:endParaRPr lang="en-GB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5D0BA9-571C-4A2F-D2D4-0E923D75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17" y="3647615"/>
            <a:ext cx="3456199" cy="238642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D844CD8-8757-071D-7926-9E3DFD281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051" y="3647615"/>
            <a:ext cx="4044670" cy="23934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B90E7B2-EDE7-F9F9-21AA-5010D6B0CD77}"/>
              </a:ext>
            </a:extLst>
          </p:cNvPr>
          <p:cNvSpPr txBox="1"/>
          <p:nvPr/>
        </p:nvSpPr>
        <p:spPr>
          <a:xfrm>
            <a:off x="844164" y="2351550"/>
            <a:ext cx="2569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Validation and Relationship Logic</a:t>
            </a:r>
          </a:p>
        </p:txBody>
      </p:sp>
    </p:spTree>
    <p:extLst>
      <p:ext uri="{BB962C8B-B14F-4D97-AF65-F5344CB8AC3E}">
        <p14:creationId xmlns:p14="http://schemas.microsoft.com/office/powerpoint/2010/main" val="993328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92D7B4-A1C1-728B-8922-C80E0B271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79472"/>
              </p:ext>
            </p:extLst>
          </p:nvPr>
        </p:nvGraphicFramePr>
        <p:xfrm>
          <a:off x="2669540" y="917786"/>
          <a:ext cx="6852920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>
                  <a:extLst>
                    <a:ext uri="{9D8B030D-6E8A-4147-A177-3AD203B41FA5}">
                      <a16:colId xmlns:a16="http://schemas.microsoft.com/office/drawing/2014/main" val="2950780673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1649268507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459570440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237837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Test Case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Expected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Actual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5249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all enrollments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with enrollment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7072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with enrollment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9993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by invalid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404 Not Found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652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POST new enrollment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201 Created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36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POST duplicate enrollment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409 Conflict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211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PUT mark completed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8676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DELETE drop enrollment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dropped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8365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POST re-enroll dropped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reactivated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4700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student courses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4696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course students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filtered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4401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Gateway Swagger access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docs visible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2774409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36E05E-2342-776D-A97D-503D312CF087}"/>
              </a:ext>
            </a:extLst>
          </p:cNvPr>
          <p:cNvSpPr txBox="1"/>
          <p:nvPr/>
        </p:nvSpPr>
        <p:spPr>
          <a:xfrm>
            <a:off x="754380" y="259080"/>
            <a:ext cx="3092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Testing Summary</a:t>
            </a:r>
          </a:p>
        </p:txBody>
      </p:sp>
    </p:spTree>
    <p:extLst>
      <p:ext uri="{BB962C8B-B14F-4D97-AF65-F5344CB8AC3E}">
        <p14:creationId xmlns:p14="http://schemas.microsoft.com/office/powerpoint/2010/main" val="3786419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0352-A464-02A3-EEF1-337C936E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A4A5-B014-7D5E-B19E-FCF520D2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 Service</a:t>
            </a:r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Slides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A20E3-31D0-CE99-CBBA-ED28C062A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971522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Grade Microservice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Port: 5004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Technology: Python + flask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Purpose: Grade report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Key Features:</a:t>
            </a:r>
          </a:p>
          <a:p>
            <a:pPr marL="0" indent="0">
              <a:buNone/>
            </a:pPr>
            <a:r>
              <a:rPr lang="en-GB" dirty="0"/>
              <a:t>  	• Create, Read, Update, Delete grades</a:t>
            </a:r>
          </a:p>
          <a:p>
            <a:pPr marL="0" indent="0">
              <a:buNone/>
            </a:pPr>
            <a:r>
              <a:rPr lang="en-GB" dirty="0"/>
              <a:t>  	• Search by instructor</a:t>
            </a:r>
          </a:p>
          <a:p>
            <a:pPr marL="0" indent="0">
              <a:buNone/>
            </a:pPr>
            <a:r>
              <a:rPr lang="en-GB" dirty="0"/>
              <a:t>  	• Check availability</a:t>
            </a:r>
          </a:p>
          <a:p>
            <a:pPr marL="0" indent="0">
              <a:buNone/>
            </a:pPr>
            <a:r>
              <a:rPr lang="en-GB" dirty="0"/>
              <a:t>  	• Generate GPA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BE09B-4BD3-0072-1525-4AB2B814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705" y="152818"/>
            <a:ext cx="4383907" cy="416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44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50FB-424B-6472-E669-B1472759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63245"/>
            <a:ext cx="10515600" cy="53403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API Endpoints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B1E22DA-213C-C5BA-DF0B-71D30B30F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640684"/>
              </p:ext>
            </p:extLst>
          </p:nvPr>
        </p:nvGraphicFramePr>
        <p:xfrm>
          <a:off x="838200" y="1097279"/>
          <a:ext cx="10515597" cy="512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31695">
                  <a:extLst>
                    <a:ext uri="{9D8B030D-6E8A-4147-A177-3AD203B41FA5}">
                      <a16:colId xmlns:a16="http://schemas.microsoft.com/office/drawing/2014/main" val="1133758350"/>
                    </a:ext>
                  </a:extLst>
                </a:gridCol>
                <a:gridCol w="4078703">
                  <a:extLst>
                    <a:ext uri="{9D8B030D-6E8A-4147-A177-3AD203B41FA5}">
                      <a16:colId xmlns:a16="http://schemas.microsoft.com/office/drawing/2014/main" val="23691057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78144415"/>
                    </a:ext>
                  </a:extLst>
                </a:gridCol>
              </a:tblGrid>
              <a:tr h="420086"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Method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>
                          <a:effectLst/>
                        </a:rPr>
                        <a:t>Endpoint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>
                          <a:effectLst/>
                        </a:rPr>
                        <a:t>Description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38672782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/health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Check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4544362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All Grades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55326119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Grade by ID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7085065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/grades/enrollment/&lt;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Grades by Enrollment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21179973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/grades/instructor/&lt;instructor&gt;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Grades by Instructor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77528698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GET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/grades/availability/&lt;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Grade Availability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61434989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enrollment_id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 GPA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52903664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>
                          <a:effectLst/>
                        </a:rPr>
                        <a:t>GET</a:t>
                      </a:r>
                      <a:endParaRPr lang="en-GB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/overall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 Overall GPA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2411276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</a:rPr>
                        <a:t>POST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Grade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81226555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PUT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Grade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82206824"/>
                  </a:ext>
                </a:extLst>
              </a:tr>
              <a:tr h="420086">
                <a:tc>
                  <a:txBody>
                    <a:bodyPr/>
                    <a:lstStyle/>
                    <a:p>
                      <a:r>
                        <a:rPr lang="en-GB" b="0" dirty="0">
                          <a:effectLst/>
                          <a:latin typeface="quote-cjk-patch"/>
                        </a:rPr>
                        <a:t>DELETE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/grades/&lt;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grade_id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Grade</a:t>
                      </a:r>
                      <a:endParaRPr lang="en-GB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4689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109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05A9-7EF3-29C1-BAD1-C5CC28D4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CC37-B5F0-400F-83A2-12F57814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Direct Access Testing</a:t>
            </a:r>
            <a:b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</a:b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9E0CB-C20F-6762-0175-AA3A5C7ED377}"/>
              </a:ext>
            </a:extLst>
          </p:cNvPr>
          <p:cNvSpPr txBox="1"/>
          <p:nvPr/>
        </p:nvSpPr>
        <p:spPr>
          <a:xfrm>
            <a:off x="1792241" y="990346"/>
            <a:ext cx="3083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Swagger UI Direct Access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7F440-BE26-B080-E8BA-7254D616B8E6}"/>
              </a:ext>
            </a:extLst>
          </p:cNvPr>
          <p:cNvSpPr txBox="1"/>
          <p:nvPr/>
        </p:nvSpPr>
        <p:spPr>
          <a:xfrm>
            <a:off x="7775130" y="990346"/>
            <a:ext cx="262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All Courses Response</a:t>
            </a: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1AC4B7-B76A-9D33-6425-3CA6EAE0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17" y="1436771"/>
            <a:ext cx="5703969" cy="4507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47DCF5-D88A-9812-9B94-598C8138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142" y="1362402"/>
            <a:ext cx="2884604" cy="515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7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69B56-C1CA-03CF-F251-2A8135DD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68B866-4991-767F-70E2-EE78F49A7A1B}"/>
              </a:ext>
            </a:extLst>
          </p:cNvPr>
          <p:cNvSpPr txBox="1"/>
          <p:nvPr/>
        </p:nvSpPr>
        <p:spPr>
          <a:xfrm>
            <a:off x="1269704" y="239891"/>
            <a:ext cx="220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Available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Grades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B8D087-6C1E-8061-810A-5C9F39CFADE1}"/>
              </a:ext>
            </a:extLst>
          </p:cNvPr>
          <p:cNvSpPr txBox="1"/>
          <p:nvPr/>
        </p:nvSpPr>
        <p:spPr>
          <a:xfrm>
            <a:off x="6009265" y="205942"/>
            <a:ext cx="173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Overall GPA</a:t>
            </a:r>
            <a:endParaRPr lang="en-GB" b="1" dirty="0">
              <a:solidFill>
                <a:srgbClr val="0F1115"/>
              </a:solidFill>
              <a:effectLst/>
              <a:highlight>
                <a:srgbClr val="FFFFFF"/>
              </a:highlight>
              <a:latin typeface="quote-cjk-patch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20488D-918A-5CF9-A435-2BFF2A3CD6EB}"/>
              </a:ext>
            </a:extLst>
          </p:cNvPr>
          <p:cNvSpPr txBox="1"/>
          <p:nvPr/>
        </p:nvSpPr>
        <p:spPr>
          <a:xfrm>
            <a:off x="743924" y="3098993"/>
            <a:ext cx="2445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Course Not Found (404)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77443D-2BCF-7523-85E9-1E5E8827E0B5}"/>
              </a:ext>
            </a:extLst>
          </p:cNvPr>
          <p:cNvSpPr txBox="1"/>
          <p:nvPr/>
        </p:nvSpPr>
        <p:spPr>
          <a:xfrm>
            <a:off x="5289892" y="3059668"/>
            <a:ext cx="248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Duplicate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Record 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868FC1-9430-AE8C-7605-386ACF86BF60}"/>
              </a:ext>
            </a:extLst>
          </p:cNvPr>
          <p:cNvSpPr txBox="1"/>
          <p:nvPr/>
        </p:nvSpPr>
        <p:spPr>
          <a:xfrm>
            <a:off x="8930695" y="3060339"/>
            <a:ext cx="28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Missing Required Fields 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919F50-E59E-C6D0-1422-2DC5F48027E0}"/>
              </a:ext>
            </a:extLst>
          </p:cNvPr>
          <p:cNvSpPr txBox="1"/>
          <p:nvPr/>
        </p:nvSpPr>
        <p:spPr>
          <a:xfrm>
            <a:off x="844164" y="2351550"/>
            <a:ext cx="2569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Error Handling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CE0EE-23E9-161D-E74A-3491845B1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85" y="647340"/>
            <a:ext cx="2569595" cy="1666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1E6DF1-06A3-CC26-CEC3-62CF9297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19" y="575274"/>
            <a:ext cx="3021737" cy="1642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EBE242-0697-C8A7-BED4-EDEA17A75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79" y="3647614"/>
            <a:ext cx="3235218" cy="2393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FE854E-B012-54F1-EE74-4B44AF360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300" y="3664522"/>
            <a:ext cx="4139453" cy="2250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624C1B-994A-A787-D3AF-1D80B46081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554" y="3664522"/>
            <a:ext cx="3534634" cy="225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30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37A4-5AC7-83A8-FFE3-02394376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8D4B-1D90-4554-8126-1111C760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17" y="0"/>
            <a:ext cx="10515600" cy="1311275"/>
          </a:xfrm>
        </p:spPr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CRUD Operations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CFF76-9294-AEDA-FD7E-1FE71835C265}"/>
              </a:ext>
            </a:extLst>
          </p:cNvPr>
          <p:cNvSpPr txBox="1"/>
          <p:nvPr/>
        </p:nvSpPr>
        <p:spPr>
          <a:xfrm>
            <a:off x="502920" y="1025128"/>
            <a:ext cx="213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Create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(POST)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FD94B-0C4C-FBBB-732F-72D8E05F7999}"/>
              </a:ext>
            </a:extLst>
          </p:cNvPr>
          <p:cNvSpPr txBox="1"/>
          <p:nvPr/>
        </p:nvSpPr>
        <p:spPr>
          <a:xfrm>
            <a:off x="6926838" y="941943"/>
            <a:ext cx="2892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Get Single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(GET by ID)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8E1AF-B092-FEB1-2C83-F36DF0EA5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2" y="1470652"/>
            <a:ext cx="5097067" cy="3639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A81B71-811F-F906-8ECD-9A37FA87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40" y="1470652"/>
            <a:ext cx="4762861" cy="356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42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2F5B-469F-0398-9417-64B5A5A8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DE364-D941-CD9E-74D2-EEF5C207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17" y="0"/>
            <a:ext cx="10515600" cy="1311275"/>
          </a:xfrm>
        </p:spPr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CRUD Operations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C12B9-2404-76D1-A105-B6294EE4F28F}"/>
              </a:ext>
            </a:extLst>
          </p:cNvPr>
          <p:cNvSpPr txBox="1"/>
          <p:nvPr/>
        </p:nvSpPr>
        <p:spPr>
          <a:xfrm>
            <a:off x="1202905" y="1545081"/>
            <a:ext cx="2101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Update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(PUT)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12B4A2-D72E-3BE9-76C2-35ABC2D784CC}"/>
              </a:ext>
            </a:extLst>
          </p:cNvPr>
          <p:cNvSpPr txBox="1"/>
          <p:nvPr/>
        </p:nvSpPr>
        <p:spPr>
          <a:xfrm>
            <a:off x="7722818" y="1543371"/>
            <a:ext cx="232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Delete </a:t>
            </a:r>
            <a:r>
              <a:rPr lang="en-GB" b="1" dirty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</a:rPr>
              <a:t>Grade</a:t>
            </a:r>
            <a:r>
              <a:rPr lang="en-GB" b="1" i="0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 (DELETE)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0BB5C1-9A96-9891-8409-DB9A34BD8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44" y="2099079"/>
            <a:ext cx="5232867" cy="41881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2319F9-80DA-0565-88DA-2B20721F9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722" y="2099079"/>
            <a:ext cx="5742390" cy="355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40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4B5D-5AF0-453A-7103-86295EB1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E7C97B-E693-4D46-031A-663C32845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02363"/>
              </p:ext>
            </p:extLst>
          </p:nvPr>
        </p:nvGraphicFramePr>
        <p:xfrm>
          <a:off x="2669540" y="917786"/>
          <a:ext cx="6852920" cy="578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230">
                  <a:extLst>
                    <a:ext uri="{9D8B030D-6E8A-4147-A177-3AD203B41FA5}">
                      <a16:colId xmlns:a16="http://schemas.microsoft.com/office/drawing/2014/main" val="2950780673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1649268507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459570440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237837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Test Case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Expected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>
                          <a:effectLst/>
                          <a:latin typeface="quote-cjk-patch"/>
                        </a:rPr>
                        <a:t>Actual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b="0" dirty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35249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all grades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grade list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7072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with grade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9993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GET by invalid ID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404 Not Found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1652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POST new grade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201 Created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36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POST duplicate </a:t>
                      </a:r>
                      <a:r>
                        <a:rPr lang="en-GB" sz="1200" b="0" dirty="0" err="1">
                          <a:effectLst/>
                          <a:latin typeface="quote-cjk-patch"/>
                        </a:rPr>
                        <a:t>enrollment</a:t>
                      </a:r>
                      <a:endParaRPr lang="en-GB" sz="12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409 Conflict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8211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POST missing required field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400 Bad Request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8676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PUT update grade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200 OK updated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8365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PUT duplicate </a:t>
                      </a:r>
                      <a:r>
                        <a:rPr lang="en-GB" sz="1200" b="0" dirty="0" err="1">
                          <a:effectLst/>
                          <a:latin typeface="quote-cjk-patch"/>
                        </a:rPr>
                        <a:t>enrollment</a:t>
                      </a:r>
                      <a:endParaRPr lang="en-GB" sz="12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409 Conflict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4700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DELETE grade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deleted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4696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grade availability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availability result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4401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by instructor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 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2774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GPA by </a:t>
                      </a:r>
                      <a:r>
                        <a:rPr lang="en-GB" sz="1200" b="0" dirty="0" err="1">
                          <a:effectLst/>
                          <a:latin typeface="quote-cjk-patch"/>
                        </a:rPr>
                        <a:t>enrollment</a:t>
                      </a:r>
                      <a:endParaRPr lang="en-GB" sz="12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89799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GET overall GPA status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200 OK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Works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GB" sz="1200" b="0" dirty="0">
                          <a:effectLst/>
                          <a:latin typeface="quote-cjk-patch"/>
                        </a:rPr>
                        <a:t>PASS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533262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17753F4-77D7-5525-DAEC-84F2319BA487}"/>
              </a:ext>
            </a:extLst>
          </p:cNvPr>
          <p:cNvSpPr txBox="1"/>
          <p:nvPr/>
        </p:nvSpPr>
        <p:spPr>
          <a:xfrm>
            <a:off x="754380" y="259080"/>
            <a:ext cx="3092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Testing Summary</a:t>
            </a:r>
          </a:p>
        </p:txBody>
      </p:sp>
    </p:spTree>
    <p:extLst>
      <p:ext uri="{BB962C8B-B14F-4D97-AF65-F5344CB8AC3E}">
        <p14:creationId xmlns:p14="http://schemas.microsoft.com/office/powerpoint/2010/main" val="3142888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9EFF-51CE-234B-1AC2-5FEEBB0A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2080-80F1-5B44-51A1-C3CBAA63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61259"/>
            <a:ext cx="10346886" cy="798091"/>
          </a:xfrm>
        </p:spPr>
        <p:txBody>
          <a:bodyPr/>
          <a:lstStyle/>
          <a:p>
            <a:r>
              <a:rPr lang="en-GB" b="1" dirty="0">
                <a:solidFill>
                  <a:srgbClr val="0F1115"/>
                </a:solidFill>
                <a:effectLst/>
                <a:highlight>
                  <a:srgbClr val="FFFFFF"/>
                </a:highlight>
                <a:latin typeface="quote-cjk-patch"/>
              </a:rPr>
              <a:t>API - Gateway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B9DE7-38BB-2D63-748D-B2BE7357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49" y="943381"/>
            <a:ext cx="8454738" cy="241563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3A254A-8666-C62F-92AD-0C968B3FA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73830"/>
              </p:ext>
            </p:extLst>
          </p:nvPr>
        </p:nvGraphicFramePr>
        <p:xfrm>
          <a:off x="2233700" y="3429000"/>
          <a:ext cx="8881980" cy="314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330">
                  <a:extLst>
                    <a:ext uri="{9D8B030D-6E8A-4147-A177-3AD203B41FA5}">
                      <a16:colId xmlns:a16="http://schemas.microsoft.com/office/drawing/2014/main" val="3241710760"/>
                    </a:ext>
                  </a:extLst>
                </a:gridCol>
                <a:gridCol w="1480330">
                  <a:extLst>
                    <a:ext uri="{9D8B030D-6E8A-4147-A177-3AD203B41FA5}">
                      <a16:colId xmlns:a16="http://schemas.microsoft.com/office/drawing/2014/main" val="126838038"/>
                    </a:ext>
                  </a:extLst>
                </a:gridCol>
                <a:gridCol w="1480330">
                  <a:extLst>
                    <a:ext uri="{9D8B030D-6E8A-4147-A177-3AD203B41FA5}">
                      <a16:colId xmlns:a16="http://schemas.microsoft.com/office/drawing/2014/main" val="2352017309"/>
                    </a:ext>
                  </a:extLst>
                </a:gridCol>
                <a:gridCol w="1480330">
                  <a:extLst>
                    <a:ext uri="{9D8B030D-6E8A-4147-A177-3AD203B41FA5}">
                      <a16:colId xmlns:a16="http://schemas.microsoft.com/office/drawing/2014/main" val="1466972753"/>
                    </a:ext>
                  </a:extLst>
                </a:gridCol>
                <a:gridCol w="1480330">
                  <a:extLst>
                    <a:ext uri="{9D8B030D-6E8A-4147-A177-3AD203B41FA5}">
                      <a16:colId xmlns:a16="http://schemas.microsoft.com/office/drawing/2014/main" val="2744509055"/>
                    </a:ext>
                  </a:extLst>
                </a:gridCol>
                <a:gridCol w="1480330">
                  <a:extLst>
                    <a:ext uri="{9D8B030D-6E8A-4147-A177-3AD203B41FA5}">
                      <a16:colId xmlns:a16="http://schemas.microsoft.com/office/drawing/2014/main" val="1460353660"/>
                    </a:ext>
                  </a:extLst>
                </a:gridCol>
              </a:tblGrid>
              <a:tr h="315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Port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Gateway Route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Direct Access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Gateway Access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18511"/>
                  </a:ext>
                </a:extLst>
              </a:tr>
              <a:tr h="5379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kern="100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8000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/student-service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http://localhost:8000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http://localhost:8080/student-service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http://localhost:8080/student-service/docs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3240751"/>
                  </a:ext>
                </a:extLst>
              </a:tr>
              <a:tr h="6793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 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5002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/course-service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http://localhost:5002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http://localhost:8080/course-service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http://localhost:8080/course-service/api-docs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464875"/>
                  </a:ext>
                </a:extLst>
              </a:tr>
              <a:tr h="82438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Enrollment 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5003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/enrollment-service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http://localhost:5003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http://localhost:8080/enrollment-service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http://localhost:8080/enrollment-service/api-docs/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8625891"/>
                  </a:ext>
                </a:extLst>
              </a:tr>
              <a:tr h="65799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Grade 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5004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/grade-service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http://localhost:5004</a:t>
                      </a:r>
                      <a:endParaRPr lang="en-GB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http://localhost:8080/grade-service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solidFill>
                            <a:srgbClr val="0F1115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http://localhost:8080/grade-service/apidocs</a:t>
                      </a:r>
                      <a:endParaRPr lang="en-GB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3221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98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1402</Words>
  <Application>Microsoft Office PowerPoint</Application>
  <PresentationFormat>Widescreen</PresentationFormat>
  <Paragraphs>456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quote-cjk-patch</vt:lpstr>
      <vt:lpstr>Segoe UI</vt:lpstr>
      <vt:lpstr>Times New Roman</vt:lpstr>
      <vt:lpstr>Wingdings</vt:lpstr>
      <vt:lpstr>Office Theme</vt:lpstr>
      <vt:lpstr>IT4020 - Modern Topics in IT Assignment 2 Microservices Architecture </vt:lpstr>
      <vt:lpstr>Slide 2: Individual Contributions</vt:lpstr>
      <vt:lpstr>Architecture Overview </vt:lpstr>
      <vt:lpstr>Version Control &amp; Collaboration</vt:lpstr>
      <vt:lpstr>Student Service</vt:lpstr>
      <vt:lpstr>API Endpoints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Course Service Slides </vt:lpstr>
      <vt:lpstr>Direct Access Testing </vt:lpstr>
      <vt:lpstr>PowerPoint Presentation</vt:lpstr>
      <vt:lpstr>PowerPoint Presentation</vt:lpstr>
      <vt:lpstr>CRUD Operations</vt:lpstr>
      <vt:lpstr>PowerPoint Presentation</vt:lpstr>
      <vt:lpstr>Enrollment Service </vt:lpstr>
      <vt:lpstr>API Endpoints </vt:lpstr>
      <vt:lpstr>Direct Access Testing </vt:lpstr>
      <vt:lpstr>Gateway Access Testing </vt:lpstr>
      <vt:lpstr>PowerPoint Presentation</vt:lpstr>
      <vt:lpstr>PowerPoint Presentation</vt:lpstr>
      <vt:lpstr>Grade Service Slides </vt:lpstr>
      <vt:lpstr>API Endpoints </vt:lpstr>
      <vt:lpstr>Direct Access Testing </vt:lpstr>
      <vt:lpstr>PowerPoint Presentation</vt:lpstr>
      <vt:lpstr>CRUD Operations</vt:lpstr>
      <vt:lpstr>CRUD Operations</vt:lpstr>
      <vt:lpstr>PowerPoint Presentation</vt:lpstr>
      <vt:lpstr>API - Gateway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IT4020 - Modern Topics in IT Assignment 2 Microservices Architecture</dc:title>
  <dc:creator>WARUNIKA R S it22349460</dc:creator>
  <cp:lastModifiedBy>Sanindu Imasha Chathuranga</cp:lastModifiedBy>
  <cp:revision>26</cp:revision>
  <dcterms:created xsi:type="dcterms:W3CDTF">2026-03-26T19:04:37Z</dcterms:created>
  <dcterms:modified xsi:type="dcterms:W3CDTF">2026-04-11T07:28:38Z</dcterms:modified>
</cp:coreProperties>
</file>